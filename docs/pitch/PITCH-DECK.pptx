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 are the team. We are going to show a banking agent that resolves transaction disputes end to end, in Spanish and Portuguese. The demo is real: it runs on AWS, not on a local mock.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a bot that escalates everything helps no one. A customer who spots a strange charge wants an answer, not a queue. Our bet is to verify against their real transactions and decide with auditable rules. We chose one flow and built it well: disputes, with eligibility as a second use case on the same pipeline.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it is built. A chat message reaches Step Functions and goes through five stages: understand, decide, act, verify, and escalate. The model does not make the decisions: they come from policies.yaml, which anyone can audit. The model only proposes; the code disposes. Everything runs on AWS, deployed with Terraform.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decide which charge is being disputed, we combine merchant, amount, category and date. If there is no clear candidate, the bot asks instead of guessing. There is also an explicit escalation rule for high amounts and repeat complainants. We tested with real data from the dataset: two customers, and charges the dataset itself marks as fraud.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Every login requires a single-use code by email, with no exceptions, to prevent impersonation. The response never reveals whether a customer exists. And although we use real data from the dataset, the emails are routed to our inbox: no real person receives a code they did not ask for.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close with evidence. We have tests in every service, a matcher evaluated on boundary cases, and a simulator that plays conversations against the real pipeline. The fraud classifier did not beat the baseline, and we document that as is. And we are clear: the demo core is a mock. You can try it now, and you can ask the team for the login code.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1097280"/>
            <a:ext cx="10698480" cy="365760"/>
          </a:xfrm>
          <a:prstGeom prst="rect">
            <a:avLst/>
          </a:prstGeom>
          <a:noFill/>
        </p:spPr>
        <p:txBody>
          <a:bodyPr wrap="square" anchor="t">
            <a:spAutoFit/>
          </a:bodyPr>
          <a:lstStyle/>
          <a:p>
            <a:pPr algn="l"/>
            <a:r>
              <a:rPr sz="1400" b="1">
                <a:solidFill>
                  <a:srgbClr val="B5BDC4"/>
                </a:solidFill>
                <a:latin typeface="Consolas"/>
              </a:rPr>
              <a:t>FACTORED AI &amp; DATA HACKATHON 2026  |  AI-FIRST BANKING AGENT</a:t>
            </a:r>
          </a:p>
        </p:txBody>
      </p:sp>
      <p:sp>
        <p:nvSpPr>
          <p:cNvPr id="3" name="TextBox 2"/>
          <p:cNvSpPr txBox="1"/>
          <p:nvPr/>
        </p:nvSpPr>
        <p:spPr>
          <a:xfrm>
            <a:off x="731520" y="1828800"/>
            <a:ext cx="10698480" cy="1645920"/>
          </a:xfrm>
          <a:prstGeom prst="rect">
            <a:avLst/>
          </a:prstGeom>
          <a:noFill/>
        </p:spPr>
        <p:txBody>
          <a:bodyPr wrap="square" anchor="t">
            <a:spAutoFit/>
          </a:bodyPr>
          <a:lstStyle/>
          <a:p>
            <a:pPr algn="l"/>
            <a:r>
              <a:rPr sz="4000" b="0">
                <a:solidFill>
                  <a:srgbClr val="3DE3E8"/>
                </a:solidFill>
                <a:latin typeface="Consolas"/>
              </a:rPr>
              <a:t>Transaction disputes, resolved without escalating everything</a:t>
            </a:r>
          </a:p>
        </p:txBody>
      </p:sp>
      <p:sp>
        <p:nvSpPr>
          <p:cNvPr id="4" name="TextBox 3"/>
          <p:cNvSpPr txBox="1"/>
          <p:nvPr/>
        </p:nvSpPr>
        <p:spPr>
          <a:xfrm>
            <a:off x="731520" y="3657600"/>
            <a:ext cx="10698480" cy="731520"/>
          </a:xfrm>
          <a:prstGeom prst="rect">
            <a:avLst/>
          </a:prstGeom>
          <a:noFill/>
        </p:spPr>
        <p:txBody>
          <a:bodyPr wrap="square" anchor="t">
            <a:spAutoFit/>
          </a:bodyPr>
          <a:lstStyle/>
          <a:p>
            <a:pPr algn="l"/>
            <a:r>
              <a:rPr sz="2200" b="0">
                <a:solidFill>
                  <a:srgbClr val="FFFFFF"/>
                </a:solidFill>
                <a:latin typeface="Arial"/>
              </a:rPr>
              <a:t>An agent that resolves what is safe, asks about what is ambiguous, and escalates what is risky.</a:t>
            </a:r>
          </a:p>
        </p:txBody>
      </p:sp>
      <p:sp>
        <p:nvSpPr>
          <p:cNvPr id="5" name="TextBox 4"/>
          <p:cNvSpPr txBox="1"/>
          <p:nvPr/>
        </p:nvSpPr>
        <p:spPr>
          <a:xfrm>
            <a:off x="731520" y="5943600"/>
            <a:ext cx="10698480" cy="365760"/>
          </a:xfrm>
          <a:prstGeom prst="rect">
            <a:avLst/>
          </a:prstGeom>
          <a:noFill/>
        </p:spPr>
        <p:txBody>
          <a:bodyPr wrap="square" anchor="t">
            <a:spAutoFit/>
          </a:bodyPr>
          <a:lstStyle/>
          <a:p>
            <a:pPr algn="l"/>
            <a:r>
              <a:rPr sz="1400" b="0">
                <a:solidFill>
                  <a:srgbClr val="2BB3B8"/>
                </a:solidFill>
                <a:latin typeface="Consolas"/>
              </a:rPr>
              <a:t>Live demo: d1vi5rhqqyd97a.cloudfront.net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nchor="t">
            <a:spAutoFit/>
          </a:bodyPr>
          <a:lstStyle/>
          <a:p>
            <a:pPr algn="l"/>
            <a:r>
              <a:rPr sz="1200" b="1">
                <a:solidFill>
                  <a:srgbClr val="B5BDC4"/>
                </a:solidFill>
                <a:latin typeface="Consolas"/>
              </a:rPr>
              <a:t>THE PROBLEM</a:t>
            </a:r>
          </a:p>
        </p:txBody>
      </p:sp>
      <p:sp>
        <p:nvSpPr>
          <p:cNvPr id="3" name="TextBox 2"/>
          <p:cNvSpPr txBox="1"/>
          <p:nvPr/>
        </p:nvSpPr>
        <p:spPr>
          <a:xfrm>
            <a:off x="548640" y="640080"/>
            <a:ext cx="11064240" cy="822960"/>
          </a:xfrm>
          <a:prstGeom prst="rect">
            <a:avLst/>
          </a:prstGeom>
          <a:noFill/>
        </p:spPr>
        <p:txBody>
          <a:bodyPr wrap="square" anchor="t">
            <a:spAutoFit/>
          </a:bodyPr>
          <a:lstStyle/>
          <a:p>
            <a:pPr algn="l"/>
            <a:r>
              <a:rPr sz="3000" b="0">
                <a:solidFill>
                  <a:srgbClr val="3DE3E8"/>
                </a:solidFill>
                <a:latin typeface="Consolas"/>
              </a:rPr>
              <a:t>Escalating everything is not customer service</a:t>
            </a:r>
          </a:p>
        </p:txBody>
      </p:sp>
      <p:sp>
        <p:nvSpPr>
          <p:cNvPr id="4" name="TextBox 3"/>
          <p:cNvSpPr txBox="1"/>
          <p:nvPr/>
        </p:nvSpPr>
        <p:spPr>
          <a:xfrm>
            <a:off x="548640" y="1600200"/>
            <a:ext cx="11064240" cy="548640"/>
          </a:xfrm>
          <a:prstGeom prst="rect">
            <a:avLst/>
          </a:prstGeom>
          <a:noFill/>
        </p:spPr>
        <p:txBody>
          <a:bodyPr wrap="square" anchor="t">
            <a:spAutoFit/>
          </a:bodyPr>
          <a:lstStyle/>
          <a:p>
            <a:pPr algn="l"/>
            <a:r>
              <a:rPr sz="1600" b="0">
                <a:solidFill>
                  <a:srgbClr val="FFFFFF"/>
                </a:solidFill>
                <a:latin typeface="Arial"/>
              </a:rPr>
              <a:t>Most bots escalate any ambiguous case. The customer waits hours for something the bank can already verify.</a:t>
            </a:r>
          </a:p>
        </p:txBody>
      </p:sp>
      <p:sp>
        <p:nvSpPr>
          <p:cNvPr id="5" name="Rounded Rectangle 4"/>
          <p:cNvSpPr/>
          <p:nvPr/>
        </p:nvSpPr>
        <p:spPr>
          <a:xfrm>
            <a:off x="548640" y="2560320"/>
            <a:ext cx="3520440" cy="329184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788920"/>
            <a:ext cx="2971800" cy="365760"/>
          </a:xfrm>
          <a:prstGeom prst="rect">
            <a:avLst/>
          </a:prstGeom>
          <a:noFill/>
        </p:spPr>
        <p:txBody>
          <a:bodyPr wrap="square" anchor="t">
            <a:spAutoFit/>
          </a:bodyPr>
          <a:lstStyle/>
          <a:p>
            <a:pPr algn="l"/>
            <a:r>
              <a:rPr sz="1400" b="1">
                <a:solidFill>
                  <a:srgbClr val="3DE3E8"/>
                </a:solidFill>
                <a:latin typeface="Consolas"/>
              </a:rPr>
              <a:t>TYPICAL CASE</a:t>
            </a:r>
          </a:p>
        </p:txBody>
      </p:sp>
      <p:sp>
        <p:nvSpPr>
          <p:cNvPr id="7" name="TextBox 6"/>
          <p:cNvSpPr txBox="1"/>
          <p:nvPr/>
        </p:nvSpPr>
        <p:spPr>
          <a:xfrm>
            <a:off x="822959" y="3291840"/>
            <a:ext cx="2971800" cy="2377440"/>
          </a:xfrm>
          <a:prstGeom prst="rect">
            <a:avLst/>
          </a:prstGeom>
          <a:noFill/>
        </p:spPr>
        <p:txBody>
          <a:bodyPr wrap="square" anchor="t">
            <a:spAutoFit/>
          </a:bodyPr>
          <a:lstStyle/>
          <a:p>
            <a:pPr algn="l"/>
            <a:r>
              <a:rPr sz="1700" b="0">
                <a:solidFill>
                  <a:srgbClr val="FFFFFF"/>
                </a:solidFill>
                <a:latin typeface="Arial"/>
              </a:rPr>
              <a:t>"I don't recognize a $173.01 charge at Cine Premium." Today that ends in a human queue.</a:t>
            </a:r>
          </a:p>
        </p:txBody>
      </p:sp>
      <p:sp>
        <p:nvSpPr>
          <p:cNvPr id="8" name="Rounded Rectangle 7"/>
          <p:cNvSpPr/>
          <p:nvPr/>
        </p:nvSpPr>
        <p:spPr>
          <a:xfrm>
            <a:off x="4315968" y="2560320"/>
            <a:ext cx="3520440" cy="329184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2788920"/>
            <a:ext cx="2971800" cy="365760"/>
          </a:xfrm>
          <a:prstGeom prst="rect">
            <a:avLst/>
          </a:prstGeom>
          <a:noFill/>
        </p:spPr>
        <p:txBody>
          <a:bodyPr wrap="square" anchor="t">
            <a:spAutoFit/>
          </a:bodyPr>
          <a:lstStyle/>
          <a:p>
            <a:pPr algn="l"/>
            <a:r>
              <a:rPr sz="1400" b="1">
                <a:solidFill>
                  <a:srgbClr val="3DE3E8"/>
                </a:solidFill>
                <a:latin typeface="Consolas"/>
              </a:rPr>
              <a:t>OUR BET</a:t>
            </a:r>
          </a:p>
        </p:txBody>
      </p:sp>
      <p:sp>
        <p:nvSpPr>
          <p:cNvPr id="10" name="TextBox 9"/>
          <p:cNvSpPr txBox="1"/>
          <p:nvPr/>
        </p:nvSpPr>
        <p:spPr>
          <a:xfrm>
            <a:off x="4590288" y="3291840"/>
            <a:ext cx="2971800" cy="2377440"/>
          </a:xfrm>
          <a:prstGeom prst="rect">
            <a:avLst/>
          </a:prstGeom>
          <a:noFill/>
        </p:spPr>
        <p:txBody>
          <a:bodyPr wrap="square" anchor="t">
            <a:spAutoFit/>
          </a:bodyPr>
          <a:lstStyle/>
          <a:p>
            <a:pPr algn="l"/>
            <a:r>
              <a:rPr sz="1700" b="0">
                <a:solidFill>
                  <a:srgbClr val="FFFFFF"/>
                </a:solidFill>
                <a:latin typeface="Arial"/>
              </a:rPr>
              <a:t>Real transaction matching with embeddings, not a substring. Auditable policies decide whether to resolve, ask, or escalate.</a:t>
            </a:r>
          </a:p>
        </p:txBody>
      </p:sp>
      <p:sp>
        <p:nvSpPr>
          <p:cNvPr id="11" name="Rounded Rectangle 10"/>
          <p:cNvSpPr/>
          <p:nvPr/>
        </p:nvSpPr>
        <p:spPr>
          <a:xfrm>
            <a:off x="8083296" y="2560320"/>
            <a:ext cx="3520440" cy="329184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57616" y="2788920"/>
            <a:ext cx="2971800" cy="365760"/>
          </a:xfrm>
          <a:prstGeom prst="rect">
            <a:avLst/>
          </a:prstGeom>
          <a:noFill/>
        </p:spPr>
        <p:txBody>
          <a:bodyPr wrap="square" anchor="t">
            <a:spAutoFit/>
          </a:bodyPr>
          <a:lstStyle/>
          <a:p>
            <a:pPr algn="l"/>
            <a:r>
              <a:rPr sz="1400" b="1">
                <a:solidFill>
                  <a:srgbClr val="3DE3E8"/>
                </a:solidFill>
                <a:latin typeface="Consolas"/>
              </a:rPr>
              <a:t>SCOPE</a:t>
            </a:r>
          </a:p>
        </p:txBody>
      </p:sp>
      <p:sp>
        <p:nvSpPr>
          <p:cNvPr id="13" name="TextBox 12"/>
          <p:cNvSpPr txBox="1"/>
          <p:nvPr/>
        </p:nvSpPr>
        <p:spPr>
          <a:xfrm>
            <a:off x="8357616" y="3291840"/>
            <a:ext cx="2971800" cy="2377440"/>
          </a:xfrm>
          <a:prstGeom prst="rect">
            <a:avLst/>
          </a:prstGeom>
          <a:noFill/>
        </p:spPr>
        <p:txBody>
          <a:bodyPr wrap="square" anchor="t">
            <a:spAutoFit/>
          </a:bodyPr>
          <a:lstStyle/>
          <a:p>
            <a:pPr algn="l"/>
            <a:r>
              <a:rPr sz="1700" b="0">
                <a:solidFill>
                  <a:srgbClr val="FFFFFF"/>
                </a:solidFill>
                <a:latin typeface="Arial"/>
              </a:rPr>
              <a:t>One focused banking flow: disputes (main) and credit-product eligibility (secondary), on the same infrastructure. ES / PT.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nchor="t">
            <a:spAutoFit/>
          </a:bodyPr>
          <a:lstStyle/>
          <a:p>
            <a:pPr algn="l"/>
            <a:r>
              <a:rPr sz="1200" b="1">
                <a:solidFill>
                  <a:srgbClr val="B5BDC4"/>
                </a:solidFill>
                <a:latin typeface="Consolas"/>
              </a:rPr>
              <a:t>ARCHITECTURE</a:t>
            </a:r>
          </a:p>
        </p:txBody>
      </p:sp>
      <p:sp>
        <p:nvSpPr>
          <p:cNvPr id="3" name="TextBox 2"/>
          <p:cNvSpPr txBox="1"/>
          <p:nvPr/>
        </p:nvSpPr>
        <p:spPr>
          <a:xfrm>
            <a:off x="548640" y="640080"/>
            <a:ext cx="11064240" cy="822960"/>
          </a:xfrm>
          <a:prstGeom prst="rect">
            <a:avLst/>
          </a:prstGeom>
          <a:noFill/>
        </p:spPr>
        <p:txBody>
          <a:bodyPr wrap="square" anchor="t">
            <a:spAutoFit/>
          </a:bodyPr>
          <a:lstStyle/>
          <a:p>
            <a:pPr algn="l"/>
            <a:r>
              <a:rPr sz="3000" b="0">
                <a:solidFill>
                  <a:srgbClr val="3DE3E8"/>
                </a:solidFill>
                <a:latin typeface="Consolas"/>
              </a:rPr>
              <a:t>Model proposes, code disposes</a:t>
            </a:r>
          </a:p>
        </p:txBody>
      </p:sp>
      <p:sp>
        <p:nvSpPr>
          <p:cNvPr id="4" name="TextBox 3"/>
          <p:cNvSpPr txBox="1"/>
          <p:nvPr/>
        </p:nvSpPr>
        <p:spPr>
          <a:xfrm>
            <a:off x="548640" y="1600200"/>
            <a:ext cx="11064240" cy="548640"/>
          </a:xfrm>
          <a:prstGeom prst="rect">
            <a:avLst/>
          </a:prstGeom>
          <a:noFill/>
        </p:spPr>
        <p:txBody>
          <a:bodyPr wrap="square" anchor="t">
            <a:spAutoFit/>
          </a:bodyPr>
          <a:lstStyle/>
          <a:p>
            <a:pPr algn="l"/>
            <a:r>
              <a:rPr sz="1600" b="0">
                <a:solidFill>
                  <a:srgbClr val="FFFFFF"/>
                </a:solidFill>
                <a:latin typeface="Arial"/>
              </a:rPr>
              <a:t>Each stage is a real Lambda, orchestrated by Step Functions. The LLM proposes; an auditable rule decides.</a:t>
            </a:r>
          </a:p>
        </p:txBody>
      </p:sp>
      <p:sp>
        <p:nvSpPr>
          <p:cNvPr id="5" name="Rounded Rectangle 4"/>
          <p:cNvSpPr/>
          <p:nvPr/>
        </p:nvSpPr>
        <p:spPr>
          <a:xfrm>
            <a:off x="521207" y="2560320"/>
            <a:ext cx="2011680" cy="237744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2743200"/>
            <a:ext cx="1645920" cy="365760"/>
          </a:xfrm>
          <a:prstGeom prst="rect">
            <a:avLst/>
          </a:prstGeom>
          <a:noFill/>
        </p:spPr>
        <p:txBody>
          <a:bodyPr wrap="square" anchor="t">
            <a:spAutoFit/>
          </a:bodyPr>
          <a:lstStyle/>
          <a:p>
            <a:pPr algn="l"/>
            <a:r>
              <a:rPr sz="1400" b="1">
                <a:solidFill>
                  <a:srgbClr val="3DE3E8"/>
                </a:solidFill>
                <a:latin typeface="Consolas"/>
              </a:rPr>
              <a:t>UNDERSTAND</a:t>
            </a:r>
          </a:p>
        </p:txBody>
      </p:sp>
      <p:sp>
        <p:nvSpPr>
          <p:cNvPr id="7" name="TextBox 6"/>
          <p:cNvSpPr txBox="1"/>
          <p:nvPr/>
        </p:nvSpPr>
        <p:spPr>
          <a:xfrm>
            <a:off x="704088" y="3200400"/>
            <a:ext cx="1645920" cy="1645920"/>
          </a:xfrm>
          <a:prstGeom prst="rect">
            <a:avLst/>
          </a:prstGeom>
          <a:noFill/>
        </p:spPr>
        <p:txBody>
          <a:bodyPr wrap="square" anchor="t">
            <a:spAutoFit/>
          </a:bodyPr>
          <a:lstStyle/>
          <a:p>
            <a:pPr algn="l"/>
            <a:r>
              <a:rPr sz="1500" b="0">
                <a:solidFill>
                  <a:srgbClr val="FFFFFF"/>
                </a:solidFill>
                <a:latin typeface="Arial"/>
              </a:rPr>
              <a:t>Intent, language and customer context</a:t>
            </a:r>
          </a:p>
        </p:txBody>
      </p:sp>
      <p:sp>
        <p:nvSpPr>
          <p:cNvPr id="8" name="TextBox 7"/>
          <p:cNvSpPr txBox="1"/>
          <p:nvPr/>
        </p:nvSpPr>
        <p:spPr>
          <a:xfrm>
            <a:off x="2487168" y="3566160"/>
            <a:ext cx="365760" cy="457200"/>
          </a:xfrm>
          <a:prstGeom prst="rect">
            <a:avLst/>
          </a:prstGeom>
          <a:noFill/>
        </p:spPr>
        <p:txBody>
          <a:bodyPr wrap="square" anchor="t">
            <a:spAutoFit/>
          </a:bodyPr>
          <a:lstStyle/>
          <a:p>
            <a:pPr algn="ctr"/>
            <a:r>
              <a:rPr sz="2600" b="0">
                <a:solidFill>
                  <a:srgbClr val="3DE3E8"/>
                </a:solidFill>
                <a:latin typeface="Consolas"/>
              </a:rPr>
              <a:t>›</a:t>
            </a:r>
          </a:p>
        </p:txBody>
      </p:sp>
      <p:sp>
        <p:nvSpPr>
          <p:cNvPr id="9" name="Rounded Rectangle 8"/>
          <p:cNvSpPr/>
          <p:nvPr/>
        </p:nvSpPr>
        <p:spPr>
          <a:xfrm>
            <a:off x="2807208" y="2560320"/>
            <a:ext cx="2011680" cy="237744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0088" y="2743200"/>
            <a:ext cx="1645920" cy="365760"/>
          </a:xfrm>
          <a:prstGeom prst="rect">
            <a:avLst/>
          </a:prstGeom>
          <a:noFill/>
        </p:spPr>
        <p:txBody>
          <a:bodyPr wrap="square" anchor="t">
            <a:spAutoFit/>
          </a:bodyPr>
          <a:lstStyle/>
          <a:p>
            <a:pPr algn="l"/>
            <a:r>
              <a:rPr sz="1400" b="1">
                <a:solidFill>
                  <a:srgbClr val="3DE3E8"/>
                </a:solidFill>
                <a:latin typeface="Consolas"/>
              </a:rPr>
              <a:t>DECIDE</a:t>
            </a:r>
          </a:p>
        </p:txBody>
      </p:sp>
      <p:sp>
        <p:nvSpPr>
          <p:cNvPr id="11" name="TextBox 10"/>
          <p:cNvSpPr txBox="1"/>
          <p:nvPr/>
        </p:nvSpPr>
        <p:spPr>
          <a:xfrm>
            <a:off x="2990088" y="3200400"/>
            <a:ext cx="1645920" cy="1645920"/>
          </a:xfrm>
          <a:prstGeom prst="rect">
            <a:avLst/>
          </a:prstGeom>
          <a:noFill/>
        </p:spPr>
        <p:txBody>
          <a:bodyPr wrap="square" anchor="t">
            <a:spAutoFit/>
          </a:bodyPr>
          <a:lstStyle/>
          <a:p>
            <a:pPr algn="l"/>
            <a:r>
              <a:rPr sz="1500" b="0">
                <a:solidFill>
                  <a:srgbClr val="FFFFFF"/>
                </a:solidFill>
                <a:latin typeface="Arial"/>
              </a:rPr>
              <a:t>policies.yaml + Bedrock guardrail</a:t>
            </a:r>
          </a:p>
        </p:txBody>
      </p:sp>
      <p:sp>
        <p:nvSpPr>
          <p:cNvPr id="12" name="TextBox 11"/>
          <p:cNvSpPr txBox="1"/>
          <p:nvPr/>
        </p:nvSpPr>
        <p:spPr>
          <a:xfrm>
            <a:off x="4773168" y="3566160"/>
            <a:ext cx="365760" cy="457200"/>
          </a:xfrm>
          <a:prstGeom prst="rect">
            <a:avLst/>
          </a:prstGeom>
          <a:noFill/>
        </p:spPr>
        <p:txBody>
          <a:bodyPr wrap="square" anchor="t">
            <a:spAutoFit/>
          </a:bodyPr>
          <a:lstStyle/>
          <a:p>
            <a:pPr algn="ctr"/>
            <a:r>
              <a:rPr sz="2600" b="0">
                <a:solidFill>
                  <a:srgbClr val="3DE3E8"/>
                </a:solidFill>
                <a:latin typeface="Consolas"/>
              </a:rPr>
              <a:t>›</a:t>
            </a:r>
          </a:p>
        </p:txBody>
      </p:sp>
      <p:sp>
        <p:nvSpPr>
          <p:cNvPr id="13" name="Rounded Rectangle 12"/>
          <p:cNvSpPr/>
          <p:nvPr/>
        </p:nvSpPr>
        <p:spPr>
          <a:xfrm>
            <a:off x="5093208" y="2560320"/>
            <a:ext cx="2011680" cy="237744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76088" y="2743200"/>
            <a:ext cx="1645920" cy="365760"/>
          </a:xfrm>
          <a:prstGeom prst="rect">
            <a:avLst/>
          </a:prstGeom>
          <a:noFill/>
        </p:spPr>
        <p:txBody>
          <a:bodyPr wrap="square" anchor="t">
            <a:spAutoFit/>
          </a:bodyPr>
          <a:lstStyle/>
          <a:p>
            <a:pPr algn="l"/>
            <a:r>
              <a:rPr sz="1400" b="1">
                <a:solidFill>
                  <a:srgbClr val="3DE3E8"/>
                </a:solidFill>
                <a:latin typeface="Consolas"/>
              </a:rPr>
              <a:t>ACT</a:t>
            </a:r>
          </a:p>
        </p:txBody>
      </p:sp>
      <p:sp>
        <p:nvSpPr>
          <p:cNvPr id="15" name="TextBox 14"/>
          <p:cNvSpPr txBox="1"/>
          <p:nvPr/>
        </p:nvSpPr>
        <p:spPr>
          <a:xfrm>
            <a:off x="5276088" y="3200400"/>
            <a:ext cx="1645920" cy="1645920"/>
          </a:xfrm>
          <a:prstGeom prst="rect">
            <a:avLst/>
          </a:prstGeom>
          <a:noFill/>
        </p:spPr>
        <p:txBody>
          <a:bodyPr wrap="square" anchor="t">
            <a:spAutoFit/>
          </a:bodyPr>
          <a:lstStyle/>
          <a:p>
            <a:pPr algn="l"/>
            <a:r>
              <a:rPr sz="1500" b="0">
                <a:solidFill>
                  <a:srgbClr val="FFFFFF"/>
                </a:solidFill>
                <a:latin typeface="Arial"/>
              </a:rPr>
              <a:t>Transaction matching or eligibility</a:t>
            </a:r>
          </a:p>
        </p:txBody>
      </p:sp>
      <p:sp>
        <p:nvSpPr>
          <p:cNvPr id="16" name="TextBox 15"/>
          <p:cNvSpPr txBox="1"/>
          <p:nvPr/>
        </p:nvSpPr>
        <p:spPr>
          <a:xfrm>
            <a:off x="7059168" y="3566160"/>
            <a:ext cx="365760" cy="457200"/>
          </a:xfrm>
          <a:prstGeom prst="rect">
            <a:avLst/>
          </a:prstGeom>
          <a:noFill/>
        </p:spPr>
        <p:txBody>
          <a:bodyPr wrap="square" anchor="t">
            <a:spAutoFit/>
          </a:bodyPr>
          <a:lstStyle/>
          <a:p>
            <a:pPr algn="ctr"/>
            <a:r>
              <a:rPr sz="2600" b="0">
                <a:solidFill>
                  <a:srgbClr val="3DE3E8"/>
                </a:solidFill>
                <a:latin typeface="Consolas"/>
              </a:rPr>
              <a:t>›</a:t>
            </a:r>
          </a:p>
        </p:txBody>
      </p:sp>
      <p:sp>
        <p:nvSpPr>
          <p:cNvPr id="17" name="Rounded Rectangle 16"/>
          <p:cNvSpPr/>
          <p:nvPr/>
        </p:nvSpPr>
        <p:spPr>
          <a:xfrm>
            <a:off x="7379208" y="2560320"/>
            <a:ext cx="2011680" cy="237744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62088" y="2743200"/>
            <a:ext cx="1645920" cy="365760"/>
          </a:xfrm>
          <a:prstGeom prst="rect">
            <a:avLst/>
          </a:prstGeom>
          <a:noFill/>
        </p:spPr>
        <p:txBody>
          <a:bodyPr wrap="square" anchor="t">
            <a:spAutoFit/>
          </a:bodyPr>
          <a:lstStyle/>
          <a:p>
            <a:pPr algn="l"/>
            <a:r>
              <a:rPr sz="1400" b="1">
                <a:solidFill>
                  <a:srgbClr val="3DE3E8"/>
                </a:solidFill>
                <a:latin typeface="Consolas"/>
              </a:rPr>
              <a:t>VERIFY</a:t>
            </a:r>
          </a:p>
        </p:txBody>
      </p:sp>
      <p:sp>
        <p:nvSpPr>
          <p:cNvPr id="19" name="TextBox 18"/>
          <p:cNvSpPr txBox="1"/>
          <p:nvPr/>
        </p:nvSpPr>
        <p:spPr>
          <a:xfrm>
            <a:off x="7562088" y="3200400"/>
            <a:ext cx="1645920" cy="1645920"/>
          </a:xfrm>
          <a:prstGeom prst="rect">
            <a:avLst/>
          </a:prstGeom>
          <a:noFill/>
        </p:spPr>
        <p:txBody>
          <a:bodyPr wrap="square" anchor="t">
            <a:spAutoFit/>
          </a:bodyPr>
          <a:lstStyle/>
          <a:p>
            <a:pPr algn="l"/>
            <a:r>
              <a:rPr sz="1500" b="0">
                <a:solidFill>
                  <a:srgbClr val="FFFFFF"/>
                </a:solidFill>
                <a:latin typeface="Arial"/>
              </a:rPr>
              <a:t>Independent second check</a:t>
            </a:r>
          </a:p>
        </p:txBody>
      </p:sp>
      <p:sp>
        <p:nvSpPr>
          <p:cNvPr id="20" name="TextBox 19"/>
          <p:cNvSpPr txBox="1"/>
          <p:nvPr/>
        </p:nvSpPr>
        <p:spPr>
          <a:xfrm>
            <a:off x="9345167" y="3566160"/>
            <a:ext cx="365760" cy="457200"/>
          </a:xfrm>
          <a:prstGeom prst="rect">
            <a:avLst/>
          </a:prstGeom>
          <a:noFill/>
        </p:spPr>
        <p:txBody>
          <a:bodyPr wrap="square" anchor="t">
            <a:spAutoFit/>
          </a:bodyPr>
          <a:lstStyle/>
          <a:p>
            <a:pPr algn="ctr"/>
            <a:r>
              <a:rPr sz="2600" b="0">
                <a:solidFill>
                  <a:srgbClr val="3DE3E8"/>
                </a:solidFill>
                <a:latin typeface="Consolas"/>
              </a:rPr>
              <a:t>›</a:t>
            </a:r>
          </a:p>
        </p:txBody>
      </p:sp>
      <p:sp>
        <p:nvSpPr>
          <p:cNvPr id="21" name="Rounded Rectangle 20"/>
          <p:cNvSpPr/>
          <p:nvPr/>
        </p:nvSpPr>
        <p:spPr>
          <a:xfrm>
            <a:off x="9665208" y="2560320"/>
            <a:ext cx="2011680" cy="237744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48088" y="2743200"/>
            <a:ext cx="1645920" cy="365760"/>
          </a:xfrm>
          <a:prstGeom prst="rect">
            <a:avLst/>
          </a:prstGeom>
          <a:noFill/>
        </p:spPr>
        <p:txBody>
          <a:bodyPr wrap="square" anchor="t">
            <a:spAutoFit/>
          </a:bodyPr>
          <a:lstStyle/>
          <a:p>
            <a:pPr algn="l"/>
            <a:r>
              <a:rPr sz="1400" b="1">
                <a:solidFill>
                  <a:srgbClr val="3DE3E8"/>
                </a:solidFill>
                <a:latin typeface="Consolas"/>
              </a:rPr>
              <a:t>ESCALATE</a:t>
            </a:r>
          </a:p>
        </p:txBody>
      </p:sp>
      <p:sp>
        <p:nvSpPr>
          <p:cNvPr id="23" name="TextBox 22"/>
          <p:cNvSpPr txBox="1"/>
          <p:nvPr/>
        </p:nvSpPr>
        <p:spPr>
          <a:xfrm>
            <a:off x="9848088" y="3200400"/>
            <a:ext cx="1645920" cy="1645920"/>
          </a:xfrm>
          <a:prstGeom prst="rect">
            <a:avLst/>
          </a:prstGeom>
          <a:noFill/>
        </p:spPr>
        <p:txBody>
          <a:bodyPr wrap="square" anchor="t">
            <a:spAutoFit/>
          </a:bodyPr>
          <a:lstStyle/>
          <a:p>
            <a:pPr algn="l"/>
            <a:r>
              <a:rPr sz="1500" b="0">
                <a:solidFill>
                  <a:srgbClr val="FFFFFF"/>
                </a:solidFill>
                <a:latin typeface="Arial"/>
              </a:rPr>
              <a:t>Structured summary, no raw PII</a:t>
            </a:r>
          </a:p>
        </p:txBody>
      </p:sp>
      <p:sp>
        <p:nvSpPr>
          <p:cNvPr id="24" name="Rounded Rectangle 23"/>
          <p:cNvSpPr/>
          <p:nvPr/>
        </p:nvSpPr>
        <p:spPr>
          <a:xfrm>
            <a:off x="521207" y="5257800"/>
            <a:ext cx="11155680" cy="68580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394960"/>
            <a:ext cx="10789920" cy="457200"/>
          </a:xfrm>
          <a:prstGeom prst="rect">
            <a:avLst/>
          </a:prstGeom>
          <a:noFill/>
        </p:spPr>
        <p:txBody>
          <a:bodyPr wrap="square" anchor="t">
            <a:spAutoFit/>
          </a:bodyPr>
          <a:lstStyle/>
          <a:p>
            <a:pPr algn="ctr"/>
            <a:r>
              <a:rPr sz="1300" b="0">
                <a:solidFill>
                  <a:srgbClr val="FFFFFF"/>
                </a:solidFill>
                <a:latin typeface="Consolas"/>
              </a:rPr>
              <a:t>CloudFront  ·  API Gateway  ·  Step Functions (Express)  ·  Lambda  ·  DynamoDB  ·  Bedrock (Claude Sonnet 4.6)  ·  Terraform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nchor="t">
            <a:spAutoFit/>
          </a:bodyPr>
          <a:lstStyle/>
          <a:p>
            <a:pPr algn="l"/>
            <a:r>
              <a:rPr sz="1200" b="1">
                <a:solidFill>
                  <a:srgbClr val="B5BDC4"/>
                </a:solidFill>
                <a:latin typeface="Consolas"/>
              </a:rPr>
              <a:t>DISPUTE RESOLUTION</a:t>
            </a:r>
          </a:p>
        </p:txBody>
      </p:sp>
      <p:sp>
        <p:nvSpPr>
          <p:cNvPr id="3" name="TextBox 2"/>
          <p:cNvSpPr txBox="1"/>
          <p:nvPr/>
        </p:nvSpPr>
        <p:spPr>
          <a:xfrm>
            <a:off x="548640" y="640080"/>
            <a:ext cx="11064240" cy="822960"/>
          </a:xfrm>
          <a:prstGeom prst="rect">
            <a:avLst/>
          </a:prstGeom>
          <a:noFill/>
        </p:spPr>
        <p:txBody>
          <a:bodyPr wrap="square" anchor="t">
            <a:spAutoFit/>
          </a:bodyPr>
          <a:lstStyle/>
          <a:p>
            <a:pPr algn="l"/>
            <a:r>
              <a:rPr sz="3000" b="0">
                <a:solidFill>
                  <a:srgbClr val="3DE3E8"/>
                </a:solidFill>
                <a:latin typeface="Consolas"/>
              </a:rPr>
              <a:t>Decide with evidence, not guesswork</a:t>
            </a:r>
          </a:p>
        </p:txBody>
      </p:sp>
      <p:sp>
        <p:nvSpPr>
          <p:cNvPr id="4" name="TextBox 3"/>
          <p:cNvSpPr txBox="1"/>
          <p:nvPr/>
        </p:nvSpPr>
        <p:spPr>
          <a:xfrm>
            <a:off x="548640" y="1600200"/>
            <a:ext cx="11064240" cy="548640"/>
          </a:xfrm>
          <a:prstGeom prst="rect">
            <a:avLst/>
          </a:prstGeom>
          <a:noFill/>
        </p:spPr>
        <p:txBody>
          <a:bodyPr wrap="square" anchor="t">
            <a:spAutoFit/>
          </a:bodyPr>
          <a:lstStyle/>
          <a:p>
            <a:pPr algn="l"/>
            <a:r>
              <a:rPr sz="1600" b="0">
                <a:solidFill>
                  <a:srgbClr val="FFFFFF"/>
                </a:solidFill>
                <a:latin typeface="Arial"/>
              </a:rPr>
              <a:t>A matching score built from four signals, and a question to the customer when two candidates tie.</a:t>
            </a:r>
          </a:p>
        </p:txBody>
      </p:sp>
      <p:sp>
        <p:nvSpPr>
          <p:cNvPr id="5" name="Rounded Rectangle 4"/>
          <p:cNvSpPr/>
          <p:nvPr/>
        </p:nvSpPr>
        <p:spPr>
          <a:xfrm>
            <a:off x="548640" y="2560320"/>
            <a:ext cx="5394960" cy="320040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0" y="2560320"/>
            <a:ext cx="5394960" cy="320040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88920"/>
            <a:ext cx="4846320" cy="365760"/>
          </a:xfrm>
          <a:prstGeom prst="rect">
            <a:avLst/>
          </a:prstGeom>
          <a:noFill/>
        </p:spPr>
        <p:txBody>
          <a:bodyPr wrap="square" anchor="t">
            <a:spAutoFit/>
          </a:bodyPr>
          <a:lstStyle/>
          <a:p>
            <a:pPr algn="l"/>
            <a:r>
              <a:rPr sz="1400" b="1">
                <a:solidFill>
                  <a:srgbClr val="3DE3E8"/>
                </a:solidFill>
                <a:latin typeface="Consolas"/>
              </a:rPr>
              <a:t>MATCHING</a:t>
            </a:r>
          </a:p>
        </p:txBody>
      </p:sp>
      <p:sp>
        <p:nvSpPr>
          <p:cNvPr id="8" name="TextBox 7"/>
          <p:cNvSpPr txBox="1"/>
          <p:nvPr/>
        </p:nvSpPr>
        <p:spPr>
          <a:xfrm>
            <a:off x="822960" y="3246120"/>
            <a:ext cx="4846320" cy="2468880"/>
          </a:xfrm>
          <a:prstGeom prst="rect">
            <a:avLst/>
          </a:prstGeom>
          <a:noFill/>
        </p:spPr>
        <p:txBody>
          <a:bodyPr wrap="square">
            <a:spAutoFit/>
          </a:bodyPr>
          <a:lstStyle/>
          <a:p>
            <a:pPr>
              <a:spcAft>
                <a:spcPts val="1000"/>
              </a:spcAft>
            </a:pPr>
            <a:r>
              <a:rPr sz="1500">
                <a:solidFill>
                  <a:srgbClr val="FFFFFF"/>
                </a:solidFill>
                <a:latin typeface="Arial"/>
              </a:rPr>
              <a:t>•  Merchant  0.40</a:t>
            </a:r>
          </a:p>
          <a:p>
            <a:pPr>
              <a:spcAft>
                <a:spcPts val="1000"/>
              </a:spcAft>
            </a:pPr>
            <a:r>
              <a:rPr sz="1500">
                <a:solidFill>
                  <a:srgbClr val="FFFFFF"/>
                </a:solidFill>
                <a:latin typeface="Arial"/>
              </a:rPr>
              <a:t>•  Amount  0.25</a:t>
            </a:r>
          </a:p>
          <a:p>
            <a:pPr>
              <a:spcAft>
                <a:spcPts val="1000"/>
              </a:spcAft>
            </a:pPr>
            <a:r>
              <a:rPr sz="1500">
                <a:solidFill>
                  <a:srgbClr val="FFFFFF"/>
                </a:solidFill>
                <a:latin typeface="Arial"/>
              </a:rPr>
              <a:t>•  Category  0.20</a:t>
            </a:r>
          </a:p>
          <a:p>
            <a:pPr>
              <a:spcAft>
                <a:spcPts val="1000"/>
              </a:spcAft>
            </a:pPr>
            <a:r>
              <a:rPr sz="1500">
                <a:solidFill>
                  <a:srgbClr val="FFFFFF"/>
                </a:solidFill>
                <a:latin typeface="Arial"/>
              </a:rPr>
              <a:t>•  Date  0.15</a:t>
            </a:r>
          </a:p>
          <a:p>
            <a:pPr>
              <a:spcAft>
                <a:spcPts val="1000"/>
              </a:spcAft>
            </a:pPr>
            <a:r>
              <a:rPr sz="1500">
                <a:solidFill>
                  <a:srgbClr val="FFFFFF"/>
                </a:solidFill>
                <a:latin typeface="Arial"/>
              </a:rPr>
              <a:t>•  Confidence threshold τ = 0.6</a:t>
            </a:r>
          </a:p>
          <a:p>
            <a:pPr>
              <a:spcAft>
                <a:spcPts val="1000"/>
              </a:spcAft>
            </a:pPr>
            <a:r>
              <a:rPr sz="1500">
                <a:solidFill>
                  <a:srgbClr val="FFFFFF"/>
                </a:solidFill>
                <a:latin typeface="Arial"/>
              </a:rPr>
              <a:t>•  Minimum margin τ = 0.15 between candidates</a:t>
            </a:r>
          </a:p>
        </p:txBody>
      </p:sp>
      <p:sp>
        <p:nvSpPr>
          <p:cNvPr id="9" name="TextBox 8"/>
          <p:cNvSpPr txBox="1"/>
          <p:nvPr/>
        </p:nvSpPr>
        <p:spPr>
          <a:xfrm>
            <a:off x="6492240" y="2788920"/>
            <a:ext cx="4846320" cy="365760"/>
          </a:xfrm>
          <a:prstGeom prst="rect">
            <a:avLst/>
          </a:prstGeom>
          <a:noFill/>
        </p:spPr>
        <p:txBody>
          <a:bodyPr wrap="square" anchor="t">
            <a:spAutoFit/>
          </a:bodyPr>
          <a:lstStyle/>
          <a:p>
            <a:pPr algn="l"/>
            <a:r>
              <a:rPr sz="1400" b="1">
                <a:solidFill>
                  <a:srgbClr val="3DE3E8"/>
                </a:solidFill>
                <a:latin typeface="Consolas"/>
              </a:rPr>
              <a:t>ROUTES</a:t>
            </a:r>
          </a:p>
        </p:txBody>
      </p:sp>
      <p:sp>
        <p:nvSpPr>
          <p:cNvPr id="10" name="TextBox 9"/>
          <p:cNvSpPr txBox="1"/>
          <p:nvPr/>
        </p:nvSpPr>
        <p:spPr>
          <a:xfrm>
            <a:off x="6492240" y="3246120"/>
            <a:ext cx="4846320" cy="2468880"/>
          </a:xfrm>
          <a:prstGeom prst="rect">
            <a:avLst/>
          </a:prstGeom>
          <a:noFill/>
        </p:spPr>
        <p:txBody>
          <a:bodyPr wrap="square">
            <a:spAutoFit/>
          </a:bodyPr>
          <a:lstStyle/>
          <a:p>
            <a:pPr>
              <a:spcAft>
                <a:spcPts val="1000"/>
              </a:spcAft>
            </a:pPr>
            <a:r>
              <a:rPr sz="1500">
                <a:solidFill>
                  <a:srgbClr val="FFFFFF"/>
                </a:solidFill>
                <a:latin typeface="Arial"/>
              </a:rPr>
              <a:t>•  AUTO: one clear candidate, resolved.</a:t>
            </a:r>
          </a:p>
          <a:p>
            <a:pPr>
              <a:spcAft>
                <a:spcPts val="1000"/>
              </a:spcAft>
            </a:pPr>
            <a:r>
              <a:rPr sz="1500">
                <a:solidFill>
                  <a:srgbClr val="FFFFFF"/>
                </a:solidFill>
                <a:latin typeface="Arial"/>
              </a:rPr>
              <a:t>•  CLARIFY: two similar charges, the bot asks which one.</a:t>
            </a:r>
          </a:p>
          <a:p>
            <a:pPr>
              <a:spcAft>
                <a:spcPts val="1000"/>
              </a:spcAft>
            </a:pPr>
            <a:r>
              <a:rPr sz="1500">
                <a:solidFill>
                  <a:srgbClr val="FFFFFF"/>
                </a:solidFill>
                <a:latin typeface="Arial"/>
              </a:rPr>
              <a:t>•  ESCALATE: high amount (&gt; 15,000) or customer with 2+ prior disputes.</a:t>
            </a:r>
          </a:p>
        </p:txBody>
      </p:sp>
      <p:sp>
        <p:nvSpPr>
          <p:cNvPr id="11" name="Rounded Rectangle 10"/>
          <p:cNvSpPr/>
          <p:nvPr/>
        </p:nvSpPr>
        <p:spPr>
          <a:xfrm>
            <a:off x="548640" y="5943600"/>
            <a:ext cx="11064240" cy="54864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6035040"/>
            <a:ext cx="10607040" cy="411480"/>
          </a:xfrm>
          <a:prstGeom prst="rect">
            <a:avLst/>
          </a:prstGeom>
          <a:noFill/>
        </p:spPr>
        <p:txBody>
          <a:bodyPr wrap="square" anchor="t">
            <a:spAutoFit/>
          </a:bodyPr>
          <a:lstStyle/>
          <a:p>
            <a:pPr algn="l"/>
            <a:r>
              <a:rPr sz="1300" b="0">
                <a:solidFill>
                  <a:srgbClr val="FFFFFF"/>
                </a:solidFill>
                <a:latin typeface="Arial"/>
              </a:rPr>
              <a:t>Real data from the hackathon dataset: 22 transactions across two customers, including charges flagged is_fraud = true.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nchor="t">
            <a:spAutoFit/>
          </a:bodyPr>
          <a:lstStyle/>
          <a:p>
            <a:pPr algn="l"/>
            <a:r>
              <a:rPr sz="1200" b="1">
                <a:solidFill>
                  <a:srgbClr val="B5BDC4"/>
                </a:solidFill>
                <a:latin typeface="Consolas"/>
              </a:rPr>
              <a:t>SECURITY</a:t>
            </a:r>
          </a:p>
        </p:txBody>
      </p:sp>
      <p:sp>
        <p:nvSpPr>
          <p:cNvPr id="3" name="TextBox 2"/>
          <p:cNvSpPr txBox="1"/>
          <p:nvPr/>
        </p:nvSpPr>
        <p:spPr>
          <a:xfrm>
            <a:off x="548640" y="640080"/>
            <a:ext cx="11064240" cy="822960"/>
          </a:xfrm>
          <a:prstGeom prst="rect">
            <a:avLst/>
          </a:prstGeom>
          <a:noFill/>
        </p:spPr>
        <p:txBody>
          <a:bodyPr wrap="square" anchor="t">
            <a:spAutoFit/>
          </a:bodyPr>
          <a:lstStyle/>
          <a:p>
            <a:pPr algn="l"/>
            <a:r>
              <a:rPr sz="3000" b="0">
                <a:solidFill>
                  <a:srgbClr val="3DE3E8"/>
                </a:solidFill>
                <a:latin typeface="Consolas"/>
              </a:rPr>
              <a:t>No login without an email code</a:t>
            </a:r>
          </a:p>
        </p:txBody>
      </p:sp>
      <p:sp>
        <p:nvSpPr>
          <p:cNvPr id="4" name="TextBox 3"/>
          <p:cNvSpPr txBox="1"/>
          <p:nvPr/>
        </p:nvSpPr>
        <p:spPr>
          <a:xfrm>
            <a:off x="548640" y="1600200"/>
            <a:ext cx="11064240" cy="548640"/>
          </a:xfrm>
          <a:prstGeom prst="rect">
            <a:avLst/>
          </a:prstGeom>
          <a:noFill/>
        </p:spPr>
        <p:txBody>
          <a:bodyPr wrap="square" anchor="t">
            <a:spAutoFit/>
          </a:bodyPr>
          <a:lstStyle/>
          <a:p>
            <a:pPr algn="l"/>
            <a:r>
              <a:rPr sz="1600" b="0">
                <a:solidFill>
                  <a:srgbClr val="FFFFFF"/>
                </a:solidFill>
                <a:latin typeface="Arial"/>
              </a:rPr>
              <a:t>Document and name alone do not prove identity. That is why every login has a second step.</a:t>
            </a:r>
          </a:p>
        </p:txBody>
      </p:sp>
      <p:sp>
        <p:nvSpPr>
          <p:cNvPr id="5" name="Rounded Rectangle 4"/>
          <p:cNvSpPr/>
          <p:nvPr/>
        </p:nvSpPr>
        <p:spPr>
          <a:xfrm>
            <a:off x="548640" y="2560320"/>
            <a:ext cx="2651760" cy="329184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743200"/>
            <a:ext cx="2194560" cy="731520"/>
          </a:xfrm>
          <a:prstGeom prst="rect">
            <a:avLst/>
          </a:prstGeom>
          <a:noFill/>
        </p:spPr>
        <p:txBody>
          <a:bodyPr wrap="square" anchor="t">
            <a:spAutoFit/>
          </a:bodyPr>
          <a:lstStyle/>
          <a:p>
            <a:pPr algn="l"/>
            <a:r>
              <a:rPr sz="1300" b="1">
                <a:solidFill>
                  <a:srgbClr val="3DE3E8"/>
                </a:solidFill>
                <a:latin typeface="Consolas"/>
              </a:rPr>
              <a:t>2 STEPS, ALWAYS</a:t>
            </a:r>
          </a:p>
        </p:txBody>
      </p:sp>
      <p:sp>
        <p:nvSpPr>
          <p:cNvPr id="7" name="TextBox 6"/>
          <p:cNvSpPr txBox="1"/>
          <p:nvPr/>
        </p:nvSpPr>
        <p:spPr>
          <a:xfrm>
            <a:off x="777240" y="3474720"/>
            <a:ext cx="2194560" cy="2286000"/>
          </a:xfrm>
          <a:prstGeom prst="rect">
            <a:avLst/>
          </a:prstGeom>
          <a:noFill/>
        </p:spPr>
        <p:txBody>
          <a:bodyPr wrap="square" anchor="t">
            <a:spAutoFit/>
          </a:bodyPr>
          <a:lstStyle/>
          <a:p>
            <a:pPr algn="l"/>
            <a:r>
              <a:rPr sz="1500" b="0">
                <a:solidFill>
                  <a:srgbClr val="FFFFFF"/>
                </a:solidFill>
                <a:latin typeface="Arial"/>
              </a:rPr>
              <a:t>Document and name, then a 6-digit single-use code sent by email.</a:t>
            </a:r>
          </a:p>
        </p:txBody>
      </p:sp>
      <p:sp>
        <p:nvSpPr>
          <p:cNvPr id="8" name="Rounded Rectangle 7"/>
          <p:cNvSpPr/>
          <p:nvPr/>
        </p:nvSpPr>
        <p:spPr>
          <a:xfrm>
            <a:off x="3383280" y="2560320"/>
            <a:ext cx="2651760" cy="329184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2743200"/>
            <a:ext cx="2194560" cy="731520"/>
          </a:xfrm>
          <a:prstGeom prst="rect">
            <a:avLst/>
          </a:prstGeom>
          <a:noFill/>
        </p:spPr>
        <p:txBody>
          <a:bodyPr wrap="square" anchor="t">
            <a:spAutoFit/>
          </a:bodyPr>
          <a:lstStyle/>
          <a:p>
            <a:pPr algn="l"/>
            <a:r>
              <a:rPr sz="1300" b="1">
                <a:solidFill>
                  <a:srgbClr val="3DE3E8"/>
                </a:solidFill>
                <a:latin typeface="Consolas"/>
              </a:rPr>
              <a:t>ANTI-ENUMERATION</a:t>
            </a:r>
          </a:p>
        </p:txBody>
      </p:sp>
      <p:sp>
        <p:nvSpPr>
          <p:cNvPr id="10" name="TextBox 9"/>
          <p:cNvSpPr txBox="1"/>
          <p:nvPr/>
        </p:nvSpPr>
        <p:spPr>
          <a:xfrm>
            <a:off x="3611880" y="3474720"/>
            <a:ext cx="2194560" cy="2286000"/>
          </a:xfrm>
          <a:prstGeom prst="rect">
            <a:avLst/>
          </a:prstGeom>
          <a:noFill/>
        </p:spPr>
        <p:txBody>
          <a:bodyPr wrap="square" anchor="t">
            <a:spAutoFit/>
          </a:bodyPr>
          <a:lstStyle/>
          <a:p>
            <a:pPr algn="l"/>
            <a:r>
              <a:rPr sz="1500" b="0">
                <a:solidFill>
                  <a:srgbClr val="FFFFFF"/>
                </a:solidFill>
                <a:latin typeface="Arial"/>
              </a:rPr>
              <a:t>The response is the same even when the record does not exist. You cannot discover who is a customer.</a:t>
            </a:r>
          </a:p>
        </p:txBody>
      </p:sp>
      <p:sp>
        <p:nvSpPr>
          <p:cNvPr id="11" name="Rounded Rectangle 10"/>
          <p:cNvSpPr/>
          <p:nvPr/>
        </p:nvSpPr>
        <p:spPr>
          <a:xfrm>
            <a:off x="6217920" y="2560320"/>
            <a:ext cx="2651760" cy="329184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743200"/>
            <a:ext cx="2194560" cy="731520"/>
          </a:xfrm>
          <a:prstGeom prst="rect">
            <a:avLst/>
          </a:prstGeom>
          <a:noFill/>
        </p:spPr>
        <p:txBody>
          <a:bodyPr wrap="square" anchor="t">
            <a:spAutoFit/>
          </a:bodyPr>
          <a:lstStyle/>
          <a:p>
            <a:pPr algn="l"/>
            <a:r>
              <a:rPr sz="1300" b="1">
                <a:solidFill>
                  <a:srgbClr val="3DE3E8"/>
                </a:solidFill>
                <a:latin typeface="Consolas"/>
              </a:rPr>
              <a:t>SIGNED SESSION</a:t>
            </a:r>
          </a:p>
        </p:txBody>
      </p:sp>
      <p:sp>
        <p:nvSpPr>
          <p:cNvPr id="13" name="TextBox 12"/>
          <p:cNvSpPr txBox="1"/>
          <p:nvPr/>
        </p:nvSpPr>
        <p:spPr>
          <a:xfrm>
            <a:off x="6446520" y="3474720"/>
            <a:ext cx="2194560" cy="2286000"/>
          </a:xfrm>
          <a:prstGeom prst="rect">
            <a:avLst/>
          </a:prstGeom>
          <a:noFill/>
        </p:spPr>
        <p:txBody>
          <a:bodyPr wrap="square" anchor="t">
            <a:spAutoFit/>
          </a:bodyPr>
          <a:lstStyle/>
          <a:p>
            <a:pPr algn="l"/>
            <a:r>
              <a:rPr sz="1500" b="0">
                <a:solidFill>
                  <a:srgbClr val="FFFFFF"/>
                </a:solidFill>
                <a:latin typeface="Arial"/>
              </a:rPr>
              <a:t>HMAC-SHA256 token that expires after 30 minutes. No server-side session state.</a:t>
            </a:r>
          </a:p>
        </p:txBody>
      </p:sp>
      <p:sp>
        <p:nvSpPr>
          <p:cNvPr id="14" name="Rounded Rectangle 13"/>
          <p:cNvSpPr/>
          <p:nvPr/>
        </p:nvSpPr>
        <p:spPr>
          <a:xfrm>
            <a:off x="9052560" y="2560320"/>
            <a:ext cx="2651760" cy="329184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2743200"/>
            <a:ext cx="2194560" cy="731520"/>
          </a:xfrm>
          <a:prstGeom prst="rect">
            <a:avLst/>
          </a:prstGeom>
          <a:noFill/>
        </p:spPr>
        <p:txBody>
          <a:bodyPr wrap="square" anchor="t">
            <a:spAutoFit/>
          </a:bodyPr>
          <a:lstStyle/>
          <a:p>
            <a:pPr algn="l"/>
            <a:r>
              <a:rPr sz="1300" b="1">
                <a:solidFill>
                  <a:srgbClr val="3DE3E8"/>
                </a:solidFill>
                <a:latin typeface="Consolas"/>
              </a:rPr>
              <a:t>REAL DATA, CAREFULLY</a:t>
            </a:r>
          </a:p>
        </p:txBody>
      </p:sp>
      <p:sp>
        <p:nvSpPr>
          <p:cNvPr id="16" name="TextBox 15"/>
          <p:cNvSpPr txBox="1"/>
          <p:nvPr/>
        </p:nvSpPr>
        <p:spPr>
          <a:xfrm>
            <a:off x="9281160" y="3474720"/>
            <a:ext cx="2194560" cy="2286000"/>
          </a:xfrm>
          <a:prstGeom prst="rect">
            <a:avLst/>
          </a:prstGeom>
          <a:noFill/>
        </p:spPr>
        <p:txBody>
          <a:bodyPr wrap="square" anchor="t">
            <a:spAutoFit/>
          </a:bodyPr>
          <a:lstStyle/>
          <a:p>
            <a:pPr algn="l"/>
            <a:r>
              <a:rPr sz="1500" b="0">
                <a:solidFill>
                  <a:srgbClr val="FFFFFF"/>
                </a:solidFill>
                <a:latin typeface="Arial"/>
              </a:rPr>
              <a:t>Real customers' emails are routed to the team inbox. No outside person receives codes.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nchor="t">
            <a:spAutoFit/>
          </a:bodyPr>
          <a:lstStyle/>
          <a:p>
            <a:pPr algn="l"/>
            <a:r>
              <a:rPr sz="1200" b="1">
                <a:solidFill>
                  <a:srgbClr val="B5BDC4"/>
                </a:solidFill>
                <a:latin typeface="Consolas"/>
              </a:rPr>
              <a:t>EVIDENCE &amp; LIMITS</a:t>
            </a:r>
          </a:p>
        </p:txBody>
      </p:sp>
      <p:sp>
        <p:nvSpPr>
          <p:cNvPr id="3" name="TextBox 2"/>
          <p:cNvSpPr txBox="1"/>
          <p:nvPr/>
        </p:nvSpPr>
        <p:spPr>
          <a:xfrm>
            <a:off x="548640" y="640080"/>
            <a:ext cx="11064240" cy="822960"/>
          </a:xfrm>
          <a:prstGeom prst="rect">
            <a:avLst/>
          </a:prstGeom>
          <a:noFill/>
        </p:spPr>
        <p:txBody>
          <a:bodyPr wrap="square" anchor="t">
            <a:spAutoFit/>
          </a:bodyPr>
          <a:lstStyle/>
          <a:p>
            <a:pPr algn="l"/>
            <a:r>
              <a:rPr sz="3000" b="0">
                <a:solidFill>
                  <a:srgbClr val="3DE3E8"/>
                </a:solidFill>
                <a:latin typeface="Consolas"/>
              </a:rPr>
              <a:t>Tested, and honest about what is missing</a:t>
            </a:r>
          </a:p>
        </p:txBody>
      </p:sp>
      <p:sp>
        <p:nvSpPr>
          <p:cNvPr id="4" name="TextBox 3"/>
          <p:cNvSpPr txBox="1"/>
          <p:nvPr/>
        </p:nvSpPr>
        <p:spPr>
          <a:xfrm>
            <a:off x="548640" y="1600200"/>
            <a:ext cx="11064240" cy="548640"/>
          </a:xfrm>
          <a:prstGeom prst="rect">
            <a:avLst/>
          </a:prstGeom>
          <a:noFill/>
        </p:spPr>
        <p:txBody>
          <a:bodyPr wrap="square" anchor="t">
            <a:spAutoFit/>
          </a:bodyPr>
          <a:lstStyle/>
          <a:p>
            <a:pPr algn="l"/>
            <a:r>
              <a:rPr sz="1600" b="0">
                <a:solidFill>
                  <a:srgbClr val="FFFFFF"/>
                </a:solidFill>
                <a:latin typeface="Arial"/>
              </a:rPr>
              <a:t>What we verified with tests, what did not work, and what this demo is not.</a:t>
            </a:r>
          </a:p>
        </p:txBody>
      </p:sp>
      <p:sp>
        <p:nvSpPr>
          <p:cNvPr id="5" name="Rounded Rectangle 4"/>
          <p:cNvSpPr/>
          <p:nvPr/>
        </p:nvSpPr>
        <p:spPr>
          <a:xfrm>
            <a:off x="548640" y="2560320"/>
            <a:ext cx="5394960" cy="320040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0" y="2560320"/>
            <a:ext cx="5394960" cy="320040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88920"/>
            <a:ext cx="4846320" cy="365760"/>
          </a:xfrm>
          <a:prstGeom prst="rect">
            <a:avLst/>
          </a:prstGeom>
          <a:noFill/>
        </p:spPr>
        <p:txBody>
          <a:bodyPr wrap="square" anchor="t">
            <a:spAutoFit/>
          </a:bodyPr>
          <a:lstStyle/>
          <a:p>
            <a:pPr algn="l"/>
            <a:r>
              <a:rPr sz="1400" b="1">
                <a:solidFill>
                  <a:srgbClr val="3DE3E8"/>
                </a:solidFill>
                <a:latin typeface="Consolas"/>
              </a:rPr>
              <a:t>TESTED</a:t>
            </a:r>
          </a:p>
        </p:txBody>
      </p:sp>
      <p:sp>
        <p:nvSpPr>
          <p:cNvPr id="8" name="TextBox 7"/>
          <p:cNvSpPr txBox="1"/>
          <p:nvPr/>
        </p:nvSpPr>
        <p:spPr>
          <a:xfrm>
            <a:off x="822960" y="3246120"/>
            <a:ext cx="4846320" cy="2468880"/>
          </a:xfrm>
          <a:prstGeom prst="rect">
            <a:avLst/>
          </a:prstGeom>
          <a:noFill/>
        </p:spPr>
        <p:txBody>
          <a:bodyPr wrap="square">
            <a:spAutoFit/>
          </a:bodyPr>
          <a:lstStyle/>
          <a:p>
            <a:pPr>
              <a:spcAft>
                <a:spcPts val="1000"/>
              </a:spcAft>
            </a:pPr>
            <a:r>
              <a:rPr sz="1500">
                <a:solidFill>
                  <a:srgbClr val="FFFFFF"/>
                </a:solidFill>
                <a:latin typeface="Arial"/>
              </a:rPr>
              <a:t>•  Green test suite in every service</a:t>
            </a:r>
          </a:p>
          <a:p>
            <a:pPr>
              <a:spcAft>
                <a:spcPts val="1000"/>
              </a:spcAft>
            </a:pPr>
            <a:r>
              <a:rPr sz="1500">
                <a:solidFill>
                  <a:srgbClr val="FFFFFF"/>
                </a:solidFill>
                <a:latin typeface="Arial"/>
              </a:rPr>
              <a:t>•  120 matcher fixture cases, with real embeddings</a:t>
            </a:r>
          </a:p>
          <a:p>
            <a:pPr>
              <a:spcAft>
                <a:spcPts val="1000"/>
              </a:spcAft>
            </a:pPr>
            <a:r>
              <a:rPr sz="1500">
                <a:solidFill>
                  <a:srgbClr val="FFFFFF"/>
                </a:solidFill>
                <a:latin typeface="Arial"/>
              </a:rPr>
              <a:t>•  Conversation simulator run against the deployed pipeline</a:t>
            </a:r>
          </a:p>
          <a:p>
            <a:pPr>
              <a:spcAft>
                <a:spcPts val="1000"/>
              </a:spcAft>
            </a:pPr>
            <a:r>
              <a:rPr sz="1500">
                <a:solidFill>
                  <a:srgbClr val="FFFFFF"/>
                </a:solidFill>
                <a:latin typeface="Arial"/>
              </a:rPr>
              <a:t>•  Fraud classifier: negative result, documented in ml/REPORT.md</a:t>
            </a:r>
          </a:p>
        </p:txBody>
      </p:sp>
      <p:sp>
        <p:nvSpPr>
          <p:cNvPr id="9" name="TextBox 8"/>
          <p:cNvSpPr txBox="1"/>
          <p:nvPr/>
        </p:nvSpPr>
        <p:spPr>
          <a:xfrm>
            <a:off x="6492240" y="2788920"/>
            <a:ext cx="4846320" cy="365760"/>
          </a:xfrm>
          <a:prstGeom prst="rect">
            <a:avLst/>
          </a:prstGeom>
          <a:noFill/>
        </p:spPr>
        <p:txBody>
          <a:bodyPr wrap="square" anchor="t">
            <a:spAutoFit/>
          </a:bodyPr>
          <a:lstStyle/>
          <a:p>
            <a:pPr algn="l"/>
            <a:r>
              <a:rPr sz="1400" b="1">
                <a:solidFill>
                  <a:srgbClr val="3DE3E8"/>
                </a:solidFill>
                <a:latin typeface="Consolas"/>
              </a:rPr>
              <a:t>LIMITS</a:t>
            </a:r>
          </a:p>
        </p:txBody>
      </p:sp>
      <p:sp>
        <p:nvSpPr>
          <p:cNvPr id="10" name="TextBox 9"/>
          <p:cNvSpPr txBox="1"/>
          <p:nvPr/>
        </p:nvSpPr>
        <p:spPr>
          <a:xfrm>
            <a:off x="6492240" y="3246120"/>
            <a:ext cx="4846320" cy="2468880"/>
          </a:xfrm>
          <a:prstGeom prst="rect">
            <a:avLst/>
          </a:prstGeom>
          <a:noFill/>
        </p:spPr>
        <p:txBody>
          <a:bodyPr wrap="square">
            <a:spAutoFit/>
          </a:bodyPr>
          <a:lstStyle/>
          <a:p>
            <a:pPr>
              <a:spcAft>
                <a:spcPts val="1000"/>
              </a:spcAft>
            </a:pPr>
            <a:r>
              <a:rPr sz="1500">
                <a:solidFill>
                  <a:srgbClr val="FFFFFF"/>
                </a:solidFill>
                <a:latin typeface="Arial"/>
              </a:rPr>
              <a:t>•  The demo banking core is a mock with the real schema</a:t>
            </a:r>
          </a:p>
          <a:p>
            <a:pPr>
              <a:spcAft>
                <a:spcPts val="1000"/>
              </a:spcAft>
            </a:pPr>
            <a:r>
              <a:rPr sz="1500">
                <a:solidFill>
                  <a:srgbClr val="FFFFFF"/>
                </a:solidFill>
                <a:latin typeface="Arial"/>
              </a:rPr>
              <a:t>•  No integration with a production banking core</a:t>
            </a:r>
          </a:p>
          <a:p>
            <a:pPr>
              <a:spcAft>
                <a:spcPts val="1000"/>
              </a:spcAft>
            </a:pPr>
            <a:r>
              <a:rPr sz="1500">
                <a:solidFill>
                  <a:srgbClr val="FFFFFF"/>
                </a:solidFill>
                <a:latin typeface="Arial"/>
              </a:rPr>
              <a:t>•  Logging in to the demo requires a code: ask the team for it</a:t>
            </a:r>
          </a:p>
        </p:txBody>
      </p:sp>
      <p:sp>
        <p:nvSpPr>
          <p:cNvPr id="11" name="Rounded Rectangle 10"/>
          <p:cNvSpPr/>
          <p:nvPr/>
        </p:nvSpPr>
        <p:spPr>
          <a:xfrm>
            <a:off x="548640" y="5943600"/>
            <a:ext cx="11064240" cy="548640"/>
          </a:xfrm>
          <a:prstGeom prst="roundRect">
            <a:avLst>
              <a:gd name="adj" fmla="val 8000"/>
            </a:avLst>
          </a:prstGeom>
          <a:noFill/>
          <a:ln w="15875">
            <a:solidFill>
              <a:srgbClr val="2BB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6035040"/>
            <a:ext cx="10607040" cy="411480"/>
          </a:xfrm>
          <a:prstGeom prst="rect">
            <a:avLst/>
          </a:prstGeom>
          <a:noFill/>
        </p:spPr>
        <p:txBody>
          <a:bodyPr wrap="square" anchor="t">
            <a:spAutoFit/>
          </a:bodyPr>
          <a:lstStyle/>
          <a:p>
            <a:pPr algn="l"/>
            <a:r>
              <a:rPr sz="1300" b="0">
                <a:solidFill>
                  <a:srgbClr val="FFFFFF"/>
                </a:solidFill>
                <a:latin typeface="Arial"/>
              </a:rPr>
              <a:t>Demo: d1vi5rhqqyd97a.cloudfront.net  ·  Repo: factored-hackathon-2026-jdlr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